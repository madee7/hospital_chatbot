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303540"/>
                </a:solidFill>
                <a:latin typeface="Segoe UI"/>
              </a:rPr>
              <a:t>Hospital Chatbot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3383280"/>
            <a:ext cx="2286000" cy="4572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Segoe UI"/>
              </a:rPr>
              <a:t>By: Eng / Ghena Ahmed  ·  Eng / Mohamed Madeeh  ·  Eng / Yousof Ahmed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4D5973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03540"/>
                </a:solidFill>
                <a:latin typeface="Segoe UI"/>
              </a:rPr>
              <a:t>Why WhatsApp for Healthcare?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3200400" cy="54864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Why WhatsApp for Healthcare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035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0352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91640"/>
            <a:ext cx="493775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Segoe UI"/>
              </a:rPr>
              <a:t>Patients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24/7 Access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Faster Booking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Easy Navigation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0352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30352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3775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580C"/>
                </a:solidFill>
                <a:latin typeface="Segoe UI"/>
              </a:rPr>
              <a:t>Reception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Less Manual Work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Fewer Calls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Fewer Errors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4D5973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03540"/>
                </a:solidFill>
                <a:latin typeface="Segoe UI"/>
              </a:rPr>
              <a:t>Solution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3200400" cy="54864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Main Menu: Single Entry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One centralized interface handles all patient requests with clear navigation.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03540"/>
                </a:solidFill>
                <a:latin typeface="Segoe UI"/>
              </a:rPr>
              <a:t>Book Appointment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Start guided scheduling with real availability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03540"/>
                </a:solidFill>
                <a:latin typeface="Segoe UI"/>
              </a:rPr>
              <a:t>Reschedule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Change date or time instantly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03540"/>
                </a:solidFill>
                <a:latin typeface="Segoe UI"/>
              </a:rPr>
              <a:t>Cancel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Release the slot immediately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03540"/>
                </a:solidFill>
                <a:latin typeface="Segoe UI"/>
              </a:rPr>
              <a:t>Ask about Doctors/Specialties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Browse provider information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03540"/>
                </a:solidFill>
                <a:latin typeface="Segoe UI"/>
              </a:rPr>
              <a:t>Talk to Reception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Human handover for complex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4D5973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03540"/>
                </a:solidFill>
                <a:latin typeface="Segoe UI"/>
              </a:rPr>
              <a:t>Booking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3200400" cy="54864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Booking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Select Appointment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201168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9456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Start Booking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201168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80" y="219456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5176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Select Doctor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201168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83880" y="219456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65176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Select Date &amp;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Booking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Review &amp; Confirm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201168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9456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Enter Full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201168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80" y="219456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5176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Review Booking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201168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83880" y="219456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651760"/>
            <a:ext cx="3017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Confirm Appointment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Flexible Search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Two distinct pathways converge on the same outcome, accommodating patient preferences.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0352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493775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366F1"/>
                </a:solidFill>
                <a:latin typeface="Segoe UI"/>
              </a:rPr>
              <a:t>By Specialty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Select specialty first, then choose doctor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3035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30352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93775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Segoe UI"/>
              </a:rPr>
              <a:t>By Doctor Name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Browse doctors directly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Confirmation with Conflict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Multi-layer safeguards hold slots and prevent simultaneous double-bookings.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2743200" cy="34747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4688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Temporary Slot Hold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Slot reserved during confirmation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45920"/>
            <a:ext cx="2743200" cy="34747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86000"/>
            <a:ext cx="24688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Review Booking Details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Doctor, date, time &amp; personal info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2743200" cy="34747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4688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Final Availability Check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Verify slot before saving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645920"/>
            <a:ext cx="2743200" cy="34747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286000"/>
            <a:ext cx="24688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Result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Secure confirmation, no overbooking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4D5973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03540"/>
                </a:solidFill>
                <a:latin typeface="Segoe UI"/>
              </a:rPr>
              <a:t>Reschedule Appointment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3200400" cy="54864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Reschedule Appointment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320040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3017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Select Appointment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Patient selects an active appointment to modify.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320040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2628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017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Choose Update Type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Change Date, Time, or Doctor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320040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8388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286000"/>
            <a:ext cx="3017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Dynamic Update Flow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Date → dates · Time → slots · Doctor → 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Reschedule Appointment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Complete the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320040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017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Select New Slot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Pick from live available schedules.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320040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8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86000"/>
            <a:ext cx="3017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Review &amp; Confirm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Patient reviews summary and clicks "Confirm".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320040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8388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286000"/>
            <a:ext cx="3017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Live Sync &amp; Receipt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DB updates instantly + Maps link.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4D5973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03540"/>
                </a:solidFill>
                <a:latin typeface="Segoe UI"/>
              </a:rPr>
              <a:t>Cancel Appointment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3200400" cy="54864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Instant Cancellation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45920"/>
            <a:ext cx="2743200" cy="34747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4688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Menu Selection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Tap "Cancel appointment" or enter Ref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45920"/>
            <a:ext cx="2743200" cy="34747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7472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4688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Booking Selection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Choose from active upcoming appointments.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2743200" cy="34747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4688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Confirmation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Confirm cancellation in one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645920"/>
            <a:ext cx="2743200" cy="34747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182880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246888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Slot Release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Reserved slot freed immediately.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4D5973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03540"/>
                </a:solidFill>
                <a:latin typeface="Segoe UI"/>
              </a:rPr>
              <a:t>Reception Handover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3200400" cy="54864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Reception Handover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Complex cases smoothly escalate to human staff with full context preservation.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Main Menu Option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"Talk to reception" available at every decision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5176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74519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Context Preservation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Full conversation history transferred to staff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6517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265176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Notification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Reception can be alerted when handover is triggered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26517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35440" y="1645920"/>
            <a:ext cx="265176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19" y="1874519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Safety Net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No patient inquiry goes unanswered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4D5973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03540"/>
                </a:solidFill>
                <a:latin typeface="Segoe UI"/>
              </a:rPr>
              <a:t>Advanced System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3200400" cy="54864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Voice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63040"/>
            <a:ext cx="2743200" cy="292608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Voice Note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Patient audio input starts the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63040"/>
            <a:ext cx="2743200" cy="292608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74720" y="164592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STT (Whisper)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Speech transcribed into structured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2743200" cy="292608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64592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AI Plan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Intent recognition maps text to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463040"/>
            <a:ext cx="2743200" cy="292608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164592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03120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DB Check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Live hospital DB verifies availability.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37760"/>
            <a:ext cx="1920240" cy="5029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03540"/>
                </a:solidFill>
                <a:latin typeface="Segoe UI"/>
              </a:rPr>
              <a:t>No TTS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39" y="4937760"/>
            <a:ext cx="1920240" cy="5029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03540"/>
                </a:solidFill>
                <a:latin typeface="Segoe UI"/>
              </a:rPr>
              <a:t>Same Funnel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4937760"/>
            <a:ext cx="1920240" cy="5029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03540"/>
                </a:solidFill>
                <a:latin typeface="Segoe UI"/>
              </a:rPr>
              <a:t>AR + 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Why Voice?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0292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02920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9164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580C"/>
                </a:solidFill>
                <a:latin typeface="Segoe UI"/>
              </a:rPr>
              <a:t>The problem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Typing friction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Dialect hard to type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Chat drop-off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Slow booking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02920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Segoe UI"/>
              </a:rPr>
              <a:t>SOLUTION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Speak naturally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Same booking flow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Faster engage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No separate app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63040"/>
            <a:ext cx="2743200" cy="25603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4592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468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Whisper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STT (Speech to Text)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63040"/>
            <a:ext cx="2743200" cy="25603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74720" y="164592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468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Planner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VoicePlan / AI 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2743200" cy="25603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64592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468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Executor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DB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463040"/>
            <a:ext cx="2743200" cy="2560320"/>
          </a:xfrm>
          <a:prstGeom prst="round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1645920"/>
            <a:ext cx="347472" cy="347472"/>
          </a:xfrm>
          <a:prstGeom prst="ellipse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03120"/>
            <a:ext cx="2468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03540"/>
                </a:solidFill>
                <a:latin typeface="Segoe UI"/>
              </a:rPr>
              <a:t>Reply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64748B"/>
                </a:solidFill>
                <a:latin typeface="Segoe UI"/>
              </a:rPr>
              <a:t>WhatsApp Buttons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03540"/>
                </a:solidFill>
                <a:latin typeface="Segoe UI"/>
              </a:rPr>
              <a:t>AI suggests  →  System confirms  →  DB = source of truth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AI Cost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99032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9903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9903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Basis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03540"/>
                </a:solidFill>
                <a:latin typeface="Segoe UI"/>
              </a:rPr>
              <a:t>Total AI cost (30 days)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03540"/>
                </a:solidFill>
                <a:latin typeface="Segoe UI"/>
              </a:rPr>
              <a:t>$0.0931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03540"/>
                </a:solidFill>
                <a:latin typeface="Segoe UI"/>
              </a:rPr>
              <a:t>Live dashboard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23160"/>
            <a:ext cx="11155680" cy="640080"/>
          </a:xfrm>
          <a:prstGeom prst="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03540"/>
                </a:solidFill>
                <a:latin typeface="Segoe UI"/>
              </a:rPr>
              <a:t>Per voice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03540"/>
                </a:solidFill>
                <a:latin typeface="Segoe UI"/>
              </a:rPr>
              <a:t>≈ $0.0009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03540"/>
                </a:solidFill>
                <a:latin typeface="Segoe UI"/>
              </a:rPr>
              <a:t>Whisper + GPT-4o-mini (94 voice notes)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63239"/>
            <a:ext cx="11155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00399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03540"/>
                </a:solidFill>
                <a:latin typeface="Segoe UI"/>
              </a:rPr>
              <a:t>LLM voice planner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0039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03540"/>
                </a:solidFill>
                <a:latin typeface="Segoe UI"/>
              </a:rPr>
              <a:t>≈ $0.0004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0039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03540"/>
                </a:solidFill>
                <a:latin typeface="Segoe UI"/>
              </a:rPr>
              <a:t>gpt-4o-mini voice_parse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11155680" cy="640080"/>
          </a:xfrm>
          <a:prstGeom prst="rect">
            <a:avLst/>
          </a:prstGeom>
          <a:solidFill>
            <a:srgbClr val="D6DEF1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03540"/>
                </a:solidFill>
                <a:latin typeface="Segoe UI"/>
              </a:rPr>
              <a:t>Whisper STT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03540"/>
                </a:solidFill>
                <a:latin typeface="Segoe UI"/>
              </a:rPr>
              <a:t>≈ $0.0004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40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03540"/>
                </a:solidFill>
                <a:latin typeface="Segoe UI"/>
              </a:rPr>
              <a:t>whisper-1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43400"/>
            <a:ext cx="11155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3291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03540"/>
                </a:solidFill>
                <a:latin typeface="Segoe UI"/>
              </a:rPr>
              <a:t>Test volume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03540"/>
                </a:solidFill>
                <a:latin typeface="Segoe UI"/>
              </a:rPr>
              <a:t>783 WhatsApp messages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80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03540"/>
                </a:solidFill>
                <a:latin typeface="Segoe UI"/>
              </a:rPr>
              <a:t>617 inbound · 166 outbound · 0 failed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Key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5176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Input only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not a new 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463040"/>
            <a:ext cx="265176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916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AI plans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next booking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265176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System proves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live hospital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463040"/>
            <a:ext cx="26517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1463040"/>
            <a:ext cx="265176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19" y="16916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Buttons out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no robot 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03540"/>
                </a:solidFill>
                <a:latin typeface="Segoe UI"/>
              </a:rPr>
              <a:t>Safe        ·        Arabic + English        ·        One product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4D5973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03540"/>
                </a:solidFill>
                <a:latin typeface="Segoe UI"/>
              </a:rPr>
              <a:t>Clinic Management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3200400" cy="54864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Clinic Dashboard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End-to-end control over clinic setup, medical schedules, and patient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03540"/>
                </a:solidFill>
                <a:latin typeface="Segoe UI"/>
              </a:rPr>
              <a:t>Clinic Setup &amp; KPIs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Track daily booking metrics, update clinic details, and manage system settings.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03540"/>
                </a:solidFill>
                <a:latin typeface="Segoe UI"/>
              </a:rPr>
              <a:t>Doctors &amp; Schedules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Manage departments, doctor profiles, working hours, and schedules.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03540"/>
                </a:solidFill>
                <a:latin typeface="Segoe UI"/>
              </a:rPr>
              <a:t>Appointments &amp; Chats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View bookings, cancel/reschedule, follow up on live conversations.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303540"/>
                </a:solidFill>
                <a:latin typeface="Segoe UI"/>
              </a:rPr>
              <a:t>Reminders &amp; Costs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64748B"/>
                </a:solidFill>
                <a:latin typeface="Segoe UI"/>
              </a:rPr>
              <a:t>Track automated WhatsApp reminders and monitor real-time AI usage costs.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Dashboard Overview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Real-time KPIs, clinic configuration, and medical registry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56616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Operational KPIs &amp; Cost Tracking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Live booking &amp; chat stats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Exact AI costs in real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5661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56616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Clinic Setup &amp; Holidays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Clinic details &amp; WhatsApp number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Holiday dates and location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5661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56616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Doctor &amp; Specialty Registry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Departments &amp; doctor profiles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Bilingual doctor details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Doctor Schedules &amp; Shift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Doctor shifts, slot durations, and leave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49377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Segoe UI"/>
              </a:rPr>
              <a:t>Working Hours &amp; Doctor Leave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Weekly doctor shifts &amp; slot durations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Auto-blocks slots during doctor absence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30352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366F1"/>
                </a:solidFill>
                <a:latin typeface="Segoe UI"/>
              </a:rPr>
              <a:t>Doctor Schedule &amp; Slots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Tracks free and booked times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Hides confirmed slots automatically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Appointments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Live booking table, updates, and data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91440"/>
          </a:xfrm>
          <a:prstGeom prst="rect">
            <a:avLst/>
          </a:prstGeom>
          <a:solidFill>
            <a:srgbClr val="4D5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49377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D5973"/>
                </a:solidFill>
                <a:latin typeface="Segoe UI"/>
              </a:rPr>
              <a:t>Appointments Table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View all patient booking records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Filter list by booking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303520" cy="91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A580C"/>
                </a:solidFill>
                <a:latin typeface="Segoe UI"/>
              </a:rPr>
              <a:t>Cancel &amp; Reschedule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Cancel or reschedule appointments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Download data with Export CSV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03540"/>
                </a:solidFill>
                <a:latin typeface="Segoe UI"/>
              </a:rPr>
              <a:t>Operational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Segoe UI"/>
              </a:rPr>
              <a:t>Live conversations and AI cost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49377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66E"/>
                </a:solidFill>
                <a:latin typeface="Segoe UI"/>
              </a:rPr>
              <a:t>Conversations &amp; Human Handover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Live patient chat transcripts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Open cases for human reception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C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30352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93775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366F1"/>
                </a:solidFill>
                <a:latin typeface="Segoe UI"/>
              </a:rPr>
              <a:t>AI Usage &amp; Cost Analytics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Tokens and response speed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303540"/>
                </a:solidFill>
                <a:latin typeface="Segoe UI"/>
              </a:rPr>
              <a:t>• AI models cost breakdown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03540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Hospital Chatbot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